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D4BF"/>
                </a:solidFill>
                <a:latin typeface="Calibri"/>
              </a:defRPr>
            </a:pPr>
            <a:r>
              <a:t>ADVISOR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916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EF8"/>
                </a:solidFill>
                <a:latin typeface="Calibri"/>
              </a:defRPr>
            </a:pPr>
            <a:r>
              <a:t>Where does this client stand?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97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AI-powered investor intelligence &amp; action-prioritization layer —</a:t>
            </a:r>
            <a:br/>
            <a:r>
              <a:t>Detect → Explain → Prioritize → Prepare → Act →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0"/>
            <a:ext cx="2651760" cy="123444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9776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D4BF"/>
                </a:solidFill>
                <a:latin typeface="Calibri"/>
              </a:defRPr>
            </a:pPr>
            <a:r>
              <a:t>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DEMO clients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3840480"/>
            <a:ext cx="2651760" cy="123444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39776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D4B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Need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2651760" cy="123444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9776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D4BF"/>
                </a:solidFill>
                <a:latin typeface="Calibri"/>
              </a:defRPr>
            </a:pPr>
            <a:r>
              <a:t>1 /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Critical / 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3840480"/>
            <a:ext cx="2651760" cy="123444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39776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DD4BF"/>
                </a:solidFill>
                <a:latin typeface="Calibri"/>
              </a:defRPr>
            </a:pPr>
            <a:r>
              <a:t>20 + 200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4526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Visible + long-tail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Globathon 2026 FinTech · Advisor Dynamic Summary · Team: [Name 1] · [Name 2] · [Name 3] · [Name 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Metrics computed from SYNTHETIC DEMO book (live_api). Not real investors. Not investment advice.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The problem: data exists — attention doesn't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11247120" cy="10515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Fragmented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Holdings, goals, past advice, and notes live in different systems — so “where does this client stand?” takes too long to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11247120" cy="10515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7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Capacity cliff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Advisors know their top ~20 deeply; the other ~200 rarely get proactive, evidence-backed 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46120"/>
            <a:ext cx="11247120" cy="10515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83279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Wrong product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Hypothesis: the gap is not another chart — it is continuous, explainable prioritization of whom to contact next.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11247120" cy="10515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262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Industry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46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Cerulli (2026): 64% of surveyed RIAs say AI reduced admin work; firms use AI to expand capacity, not replace advice.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Sources: Globathon problem framing; Cerulli Associates press release, 9 Sep 2026 (AI capacity survey, n=68 RIAs). 20/200 book split = illustrative for demo storytelling.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Why CRM + portfolio tools still leave a gap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61188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3611880" cy="109728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Store &amp; engage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CRM (e.g. Salesforce FSC /</a:t>
            </a:r>
            <a:br/>
            <a:r>
              <a:t>Agentforce Wealth)</a:t>
            </a:r>
            <a:br/>
            <a:br/>
            <a:r>
              <a:t>Household 360, tasks,</a:t>
            </a:r>
            <a:br/>
            <a:r>
              <a:t>AI meeting prep &amp; briefs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51560"/>
            <a:ext cx="361188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051560"/>
            <a:ext cx="3611880" cy="10972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716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Analyze &amp; construct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01168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Morningstar Advisor Workstation</a:t>
            </a:r>
            <a:br/>
            <a:r>
              <a:t>· BlackRock Aladdin Wealth</a:t>
            </a:r>
            <a:br/>
            <a:br/>
            <a:r>
              <a:t>Research, risk, proposals,</a:t>
            </a:r>
            <a:br/>
            <a:r>
              <a:t>rebalancing, stress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51560"/>
            <a:ext cx="3611880" cy="4297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1051560"/>
            <a:ext cx="3611880" cy="109728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3716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Calibri"/>
              </a:defRPr>
            </a:pPr>
            <a:r>
              <a:t>Still missing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011680"/>
            <a:ext cx="3154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Cross-context attention loop</a:t>
            </a:r>
            <a:br/>
            <a:br/>
            <a:r>
              <a:t>Goal path vs actual +</a:t>
            </a:r>
            <a:br/>
            <a:r>
              <a:t>explainable why-now +</a:t>
            </a:r>
            <a:br/>
            <a:r>
              <a:t>long-tail review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Sources: salesforce.com/financial-services/wealth-management-software; morningstar.com Advisor Workstation; blackrock.com/aladdin (Aladdin Wealth). Fair comparison — not capability denial.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Advisor Pulse — the attention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78308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1556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005840"/>
            <a:ext cx="17830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11556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05840"/>
            <a:ext cx="178308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11556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Prioritize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17830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11556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Prepare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05840"/>
            <a:ext cx="178308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11556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1005840"/>
            <a:ext cx="17830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111556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965960"/>
            <a:ext cx="11247120" cy="5943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031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Detect — Unified client context: holdings + goals + advice history + notes (+ optional cash-flow signals)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624328"/>
            <a:ext cx="11247120" cy="5943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6148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Explain — Expectation-vs-actual with evidence-linked, qualified drivers (not fabricated narratives)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282696"/>
            <a:ext cx="11247120" cy="5943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419856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Prioritize — Transparent multi-factor score → Critical / High / Monitor / On Track (configurable)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41063"/>
            <a:ext cx="11247120" cy="5943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078224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Prepare — Meeting briefs &amp; open questions grounded in structured facts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99431"/>
            <a:ext cx="11247120" cy="5943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36592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Act — Advisor-review suggestions only; human approval; no autonomous trading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257799"/>
            <a:ext cx="11247120" cy="5943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94959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Learn — Capture outcomes &amp; notes so the next review starts smarter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How the intelligence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611880" cy="20574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1.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Txn CSV (cash-flow) +</a:t>
            </a:r>
            <a:br/>
            <a:r>
              <a:t>SYNTHETIC portfolio</a:t>
            </a:r>
            <a:br/>
            <a:r>
              <a:t>universe (labeled)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611880" cy="20574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2344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2. 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Schema checks,</a:t>
            </a:r>
            <a:br/>
            <a:r>
              <a:t>freshness, missing-</a:t>
            </a:r>
            <a:br/>
            <a:r>
              <a:t>data warnings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05840"/>
            <a:ext cx="3611880" cy="20574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23444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3.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78308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Goal path, TWR,</a:t>
            </a:r>
            <a:br/>
            <a:r>
              <a:t>Modified Dietz,</a:t>
            </a:r>
            <a:br/>
            <a:r>
              <a:t>allocation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37560"/>
            <a:ext cx="3611880" cy="20574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4.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1480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Transparent factors +</a:t>
            </a:r>
            <a:br/>
            <a:r>
              <a:t>thresholds → book</a:t>
            </a:r>
            <a:br/>
            <a:r>
              <a:t>priority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337560"/>
            <a:ext cx="3611880" cy="20574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566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5. Summarize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11480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Structured facts →</a:t>
            </a:r>
            <a:br/>
            <a:r>
              <a:t>deterministic brief</a:t>
            </a:r>
            <a:br/>
            <a:r>
              <a:t>(LLM optional, off)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337560"/>
            <a:ext cx="3611880" cy="20574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356616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6. Human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114800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Advisor reviews &amp;</a:t>
            </a:r>
            <a:br/>
            <a:r>
              <a:t>approves actions;</a:t>
            </a:r>
            <a:br/>
            <a:r>
              <a:t>audit trail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Honest data split: supplied CSV = transactions only. Portfolio/goal analytics use labeled SYNTHETIC DEMO data. SEBI IA Reg. 15(14): IA remains responsible for AI tools &amp; client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Where the value lies: 20 vs 200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5486400" cy="45720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Known clients (illustrative top 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• Meeting prep briefs in minutes, not hours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• Changes since last review, surfaced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• Goal progress + evidence-linked drivers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• Conversation-ready open questions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Supports depth — does not replace the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relationship or professional judgment.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960120"/>
            <a:ext cx="5486400" cy="45720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Long tail (illustrative ~200)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6916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• Demo book: 200 long-tail clients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• 16 total need review now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• Proactive detection of material deviations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• Configurable thresholds cut alert fatigue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• Data-quality ≠ financial distress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Greatest incremental value: scaling quality</a:t>
            </a:r>
          </a:p>
          <a:p>
            <a:pPr>
              <a:spcAft>
                <a:spcPts val="600"/>
              </a:spcAft>
              <a:defRPr sz="1500" b="0">
                <a:solidFill>
                  <a:srgbClr val="E8EEF8"/>
                </a:solidFill>
                <a:latin typeface="Calibri"/>
              </a:defRPr>
            </a:pPr>
            <a:r>
              <a:t>attention across clients outside daily focus.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Illustrative book sizes. Context: Institutional Investor summarizing Cerulli — senior advisors ~160 clients; 29% manage &gt;200. Not a measured productivity claim for Advisor Pulse.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EF8"/>
                </a:solidFill>
                <a:latin typeface="Calibri"/>
              </a:defRPr>
            </a:pPr>
            <a:r>
              <a:t>Product walkthrough — live prototype screens</a:t>
            </a:r>
          </a:p>
        </p:txBody>
      </p:sp>
      <p:pic>
        <p:nvPicPr>
          <p:cNvPr id="4" name="Picture 3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5669280" cy="3134639"/>
          </a:xfrm>
          <a:prstGeom prst="rect">
            <a:avLst/>
          </a:prstGeom>
        </p:spPr>
      </p:pic>
      <p:pic>
        <p:nvPicPr>
          <p:cNvPr id="5" name="Picture 4" descr="04_attention_que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85800"/>
            <a:ext cx="5577840" cy="30840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8064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Calibri"/>
              </a:defRPr>
            </a:pPr>
            <a:r>
              <a:t>REAL PROTOTYPE screens (React @ :5173) · Labels: DEMO / SYNTHETIC · Not mockups unless marked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EEF8"/>
                </a:solidFill>
                <a:latin typeface="Calibri"/>
              </a:defRPr>
            </a:pPr>
            <a:r>
              <a:t>Demo: Priya (escalate) vs Arjun (do not escalate)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594360"/>
            <a:ext cx="5669280" cy="534924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priya_inve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731520"/>
            <a:ext cx="5394960" cy="29829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0749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7171"/>
                </a:solidFill>
                <a:latin typeface="Calibri"/>
              </a:defRPr>
            </a:pPr>
            <a:r>
              <a:t>Priya Sharma · Critical · score 78.0</a:t>
            </a:r>
            <a:br/>
            <a:r>
              <a:t>Path -20.9% · Active -12.06 pp · ₹72.0L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94360"/>
            <a:ext cx="5577840" cy="534924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arjun_contr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731520"/>
            <a:ext cx="5303520" cy="29324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0749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  <a:latin typeface="Calibri"/>
              </a:defRPr>
            </a:pPr>
            <a:r>
              <a:t>Arjun Mehta · On Track · score 0.0</a:t>
            </a:r>
            <a:br/>
            <a:r>
              <a:t>Path +1.8% · Planned withdrawal explains AUM dip — NOT escalated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Privacy, trust &amp; human oversight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47120" cy="65836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961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9326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8"/>
                </a:solidFill>
                <a:latin typeface="Calibri"/>
              </a:defRPr>
            </a:pPr>
            <a:r>
              <a:t>Outputs are advisor-review suggestions — never autonomous trade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36192"/>
            <a:ext cx="11247120" cy="65836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934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SEBI IA Reg. 15(14)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8"/>
                </a:solidFill>
                <a:latin typeface="Calibri"/>
              </a:defRPr>
            </a:pPr>
            <a:r>
              <a:t>IA solely responsible for AI tools, client-data integrity, and advice based on AI output; disclose AI use (Reg. 18(9)).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9424"/>
            <a:ext cx="11247120" cy="65836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2257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DPDP Act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591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8"/>
                </a:solidFill>
                <a:latin typeface="Calibri"/>
              </a:defRPr>
            </a:pPr>
            <a:r>
              <a:t>Design considerations: free/specific/informed consent, purpose limitation, Data Fiduciary security duties. Not claimed compliance.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62656"/>
            <a:ext cx="11247120" cy="65836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3580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Data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7238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8"/>
                </a:solidFill>
                <a:latin typeface="Calibri"/>
              </a:defRPr>
            </a:pPr>
            <a:r>
              <a:t>Demo: no investor PII to external models — deterministic templates. Production: approved DPA or on-prem only.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75888"/>
            <a:ext cx="11247120" cy="65836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Transcripts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78561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8"/>
                </a:solidFill>
                <a:latin typeface="Calibri"/>
              </a:defRPr>
            </a:pPr>
            <a:r>
              <a:t>Prototype: mocked local path. Production: consent + on-prem ASR + retention limits.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389120"/>
            <a:ext cx="11247120" cy="65836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622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Evidence discipline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4988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8"/>
                </a:solidFill>
                <a:latin typeface="Calibri"/>
              </a:defRPr>
            </a:pPr>
            <a:r>
              <a:t>Summary numbers copied only from structured analytics; confidence + missing-data warnings shown.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02352"/>
            <a:ext cx="11247120" cy="658368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7550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Calibri"/>
              </a:defRPr>
            </a:pPr>
            <a:r>
              <a:t>Honest 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2120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8"/>
                </a:solidFill>
                <a:latin typeface="Calibri"/>
              </a:defRPr>
            </a:pPr>
            <a:r>
              <a:t>Prototype is NOT SEBI-compliant, DPDP-certified, or production-secure.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Sources: SEBI IA Regulations PDF (Reg. 15(14)); SEBI IA Master Circular (AI disclosure / 18(9)); MeitY DPDP Act 2023 PDF. Design considerations ≠ certification.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68680"/>
            <a:ext cx="3035808" cy="77724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005839"/>
            <a:ext cx="2926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868680"/>
            <a:ext cx="1892807" cy="77724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005839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Calibri"/>
              </a:defRPr>
            </a:pPr>
            <a:r>
              <a:t>Salesforce</a:t>
            </a:r>
            <a:br/>
            <a:r>
              <a:t>FSC/Agentforce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868680"/>
            <a:ext cx="1892807" cy="77724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05272" y="1005839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Calibri"/>
              </a:defRPr>
            </a:pPr>
            <a:r>
              <a:t>Morningstar</a:t>
            </a:r>
            <a:br/>
            <a:r>
              <a:t>AWS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868680"/>
            <a:ext cx="1892807" cy="77724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71231" y="1005839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Calibri"/>
              </a:defRPr>
            </a:pPr>
            <a:r>
              <a:t>Aladdin</a:t>
            </a:r>
            <a:br/>
            <a:r>
              <a:t>Wealth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868680"/>
            <a:ext cx="1892807" cy="777240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37192" y="1005839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DD4BF"/>
                </a:solidFill>
                <a:latin typeface="Calibri"/>
              </a:defRPr>
            </a:pPr>
            <a:r>
              <a:t>Advisor</a:t>
            </a:r>
            <a:br/>
            <a:r>
              <a:t>Pulse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3035808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80136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EF8"/>
                </a:solidFill>
                <a:latin typeface="Calibri"/>
              </a:defRPr>
            </a:pPr>
            <a:r>
              <a:t>CRM / household 360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169164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18013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2120" y="169164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05272" y="18013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79" y="169164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18013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64040" y="169164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18013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Calibri"/>
              </a:defRPr>
            </a:pPr>
            <a:r>
              <a:t>Integrates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286000"/>
            <a:ext cx="3035808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239572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EF8"/>
                </a:solidFill>
                <a:latin typeface="Calibri"/>
              </a:defRPr>
            </a:pPr>
            <a:r>
              <a:t>Deep risk / stress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228600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2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NV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228600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05272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228600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1231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64040" y="228600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37192" y="23957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8EEF8"/>
                </a:solidFill>
                <a:latin typeface="Calibri"/>
              </a:defRPr>
            </a:pPr>
            <a:r>
              <a:t>Not claimed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880360"/>
            <a:ext cx="3035808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299008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EF8"/>
                </a:solidFill>
                <a:latin typeface="Calibri"/>
              </a:defRPr>
            </a:pPr>
            <a:r>
              <a:t>Goal path vs expected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66160" y="288036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299008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32120" y="288036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05272" y="299008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98079" y="288036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71231" y="299008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288036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37192" y="299008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474720"/>
            <a:ext cx="3035808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" y="358444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EF8"/>
                </a:solidFill>
                <a:latin typeface="Calibri"/>
              </a:defRPr>
            </a:pPr>
            <a:r>
              <a:t>Explainable gap drivers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66160" y="347472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39312" y="358444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NV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32120" y="347472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05272" y="358444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347472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71231" y="358444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64040" y="347472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37192" y="358444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Calibri"/>
              </a:defRPr>
            </a:pPr>
            <a:r>
              <a:t>Core*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069080"/>
            <a:ext cx="3035808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417880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EF8"/>
                </a:solidFill>
                <a:latin typeface="Calibri"/>
              </a:defRPr>
            </a:pPr>
            <a:r>
              <a:t>Transparent priority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66160" y="406908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39312" y="41788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NV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532120" y="406908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05272" y="41788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NV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98079" y="406908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71231" y="41788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64040" y="406908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537192" y="417880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57200" y="4663440"/>
            <a:ext cx="3035808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352" y="477316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EF8"/>
                </a:solidFill>
                <a:latin typeface="Calibri"/>
              </a:defRPr>
            </a:pPr>
            <a:r>
              <a:t>Evidence-bound briefs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566160" y="466344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39312" y="47731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532120" y="466344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05272" y="47731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NV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498079" y="466344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71231" y="47731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NV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464040" y="4663440"/>
            <a:ext cx="1892807" cy="530352"/>
          </a:xfrm>
          <a:prstGeom prst="roundRect">
            <a:avLst/>
          </a:prstGeom>
          <a:solidFill>
            <a:srgbClr val="1C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37192" y="477316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57200" y="5257800"/>
            <a:ext cx="3035808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0352" y="5367528"/>
            <a:ext cx="2926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EEF8"/>
                </a:solidFill>
                <a:latin typeface="Calibri"/>
              </a:defRPr>
            </a:pPr>
            <a:r>
              <a:t>Long-tail attention loop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566160" y="525780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39312" y="5367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532120" y="525780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05272" y="5367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NV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98079" y="525780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571231" y="5367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8EEF8"/>
                </a:solidFill>
                <a:latin typeface="Calibri"/>
              </a:defRPr>
            </a:pPr>
            <a:r>
              <a:t>P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464040" y="5257800"/>
            <a:ext cx="1892807" cy="530352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537192" y="5367528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DD4BF"/>
                </a:solidFill>
                <a:latin typeface="Calibri"/>
              </a:defRPr>
            </a:pPr>
            <a:r>
              <a:t>Primary JTBD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Y=evidenced · P=partial · NV=not verified in sources examined. *Qualified drivers. Differentiation = combination + explainable attention loop. See research/ppt/competitor_matrix.md.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Validation &amp;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3611880" cy="47548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D4BF"/>
                </a:solidFill>
                <a:latin typeface="Calibri"/>
              </a:defRPr>
            </a:pPr>
            <a:r>
              <a:t>Built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154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React + FastAPI prototype</a:t>
            </a:r>
            <a:br/>
            <a:r>
              <a:t>• SYNTHETIC DEMO book (220)</a:t>
            </a:r>
            <a:br/>
            <a:r>
              <a:t>• TWR + Modified Dietz</a:t>
            </a:r>
            <a:br/>
            <a:r>
              <a:t>• Transparent prioritization</a:t>
            </a:r>
            <a:br/>
            <a:r>
              <a:t>• Meeting briefs + notes</a:t>
            </a:r>
            <a:br/>
            <a:r>
              <a:t>• Deterministic summaries</a:t>
            </a:r>
            <a:br/>
            <a:r>
              <a:t>• Tests + research + this deck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914400"/>
            <a:ext cx="3611880" cy="47548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0972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D4BF"/>
                </a:solidFill>
                <a:latin typeface="Calibri"/>
              </a:defRPr>
            </a:pPr>
            <a:r>
              <a:t>Needs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645920"/>
            <a:ext cx="3154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Live custodian / PMS feeds</a:t>
            </a:r>
            <a:br/>
            <a:r>
              <a:t>• CRM task push / SSO</a:t>
            </a:r>
            <a:br/>
            <a:r>
              <a:t>• On-prem ASR (consent)</a:t>
            </a:r>
            <a:br/>
            <a:r>
              <a:t>• Approved LLM under DPA</a:t>
            </a:r>
            <a:br/>
            <a:r>
              <a:t>• Fuller Brinson attribution</a:t>
            </a:r>
            <a:br/>
            <a:r>
              <a:t>• Production security review</a:t>
            </a:r>
            <a:br/>
            <a:r>
              <a:t>• Firm-specific thresholds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914400"/>
            <a:ext cx="3611880" cy="47548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09728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DD4BF"/>
                </a:solidFill>
                <a:latin typeface="Calibri"/>
              </a:defRPr>
            </a:pPr>
            <a:r>
              <a:t>Pilot metrics (plan)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645920"/>
            <a:ext cx="3154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Review prep time saved</a:t>
            </a:r>
            <a:br/>
            <a:r>
              <a:t>• % alerts advisor-validated</a:t>
            </a:r>
            <a:br/>
            <a:r>
              <a:t>• Missed events (retro)</a:t>
            </a:r>
            <a:br/>
            <a:r>
              <a:t>• False-positive rate</a:t>
            </a:r>
            <a:br/>
            <a:r>
              <a:t>• % claims with cited facts</a:t>
            </a:r>
            <a:br/>
            <a:br/>
            <a:r>
              <a:t>No invented pilot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Globathon Round 2 rule: problem-specific logic must be built during the 12-hour finale; this repo is Round 1 ideation evidence + reference architecture.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BF"/>
                </a:solidFill>
                <a:latin typeface="Calibri"/>
              </a:defRPr>
            </a:pPr>
            <a:r>
              <a:t>Where does this client stand?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EF8"/>
                </a:solidFill>
                <a:latin typeface="Calibri"/>
              </a:defRPr>
            </a:pPr>
            <a:r>
              <a:t>Advisor Pulse helps advisors spend less time searching for signals —</a:t>
            </a:r>
            <a:br/>
            <a:r>
              <a:t>and more time acting on the right 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EEF8"/>
                </a:solidFill>
                <a:latin typeface="Calibri"/>
              </a:defRPr>
            </a:pPr>
            <a:r>
              <a:t>Detect → Explain → Prioritize → Prepare → Act →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Globathon 2026 · React web prototype · SYNTHETIC DEMO data</a:t>
            </a:r>
            <a:br/>
            <a:r>
              <a:t>Team: [Name 1] · [Name 2] · [Name 3] · [Name 4]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EF8"/>
                </a:solidFill>
                <a:latin typeface="Calibri"/>
              </a:defRPr>
            </a:pPr>
            <a:r>
              <a:t>Appendix — Finale pitch cut (2–4 slides)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  <a:r>
              <a:t>Official Round 2 live pitch PPT is short (2–4 slides). Suggested cut from this deck:</a:t>
            </a: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  <a:r>
              <a:t>1) Title + promise + live KPIs                          → Slide 1</a:t>
            </a: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  <a:r>
              <a:t>2) Solution workflow + differentiation               → Slide 4 (+ one line from 3)</a:t>
            </a: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  <a:r>
              <a:t>3) Demo: Priya escalate / Arjun suppress            → Slide 8</a:t>
            </a: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  <a:r>
              <a:t>4) Trust + ask / close                                        → Slides 9 + 12</a:t>
            </a: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  <a:r>
              <a:t>Also required at finale: working prototype, source code, run instructions,</a:t>
            </a: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  <a:r>
              <a:t>live demo + Q&amp;A.</a:t>
            </a: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  <a:r>
              <a:t>Reuse rule (official): problem-specific features &amp; business logic must be</a:t>
            </a:r>
          </a:p>
          <a:p>
            <a:pPr>
              <a:spcAft>
                <a:spcPts val="600"/>
              </a:spcAft>
              <a:defRPr sz="1600" b="0">
                <a:solidFill>
                  <a:srgbClr val="E8EEF8"/>
                </a:solidFill>
                <a:latin typeface="Calibri"/>
              </a:defRPr>
            </a:pPr>
            <a:r>
              <a:t>developed during the coding round — treat this build as ideation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80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Source: https://globathon.globatech.net/rulebook (examined 17 Oct 2026). Homepage final round listed Saturday 15 Nov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8016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EF8"/>
                </a:solidFill>
                <a:latin typeface="Calibri"/>
              </a:defRPr>
            </a:pPr>
            <a:r>
              <a:t>Appendix — Principal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1. https://globathon.globatech.net/ — Globatech homepage (timeline)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2. https://globathon.globatech.net/rulebook — Official Quest Log / rulebook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3. Cerulli: Advisor Headcount Set to Grow as AI Expands Capacity (9 Sep 2026)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4. Institutional Investor / Cerulli — advisor client-load capacity summary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5. Salesforce Financial Services — Wealth / Agentforce product pages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6. Morningstar Advisor Workstation product pages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7. BlackRock Aladdin Wealth product pages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8. SEBI IA Regulations PDF — Reg. 15(14) AI responsibility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9. SEBI IA Master Circular PDF — AI disclosure guidance (Reg. 18(9))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10. MeitY — Digital Personal Data Protection Act, 2023 PDF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Full citations &amp; assumption labels: research/ppt/fintech_research.md</a:t>
            </a:r>
          </a:p>
          <a:p>
            <a:pPr>
              <a:spcAft>
                <a:spcPts val="600"/>
              </a:spcAft>
              <a:defRPr sz="1400" b="0">
                <a:solidFill>
                  <a:srgbClr val="E8EEF8"/>
                </a:solidFill>
                <a:latin typeface="Calibri"/>
              </a:defRPr>
            </a:pPr>
            <a:r>
              <a:t>Capability matrix: research/ppt/competitor_matrix.md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/ SYNTHETIC data · Citations on-slide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