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4592" cy="685800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ADVISOR 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8EEF8"/>
                </a:solidFill>
                <a:latin typeface="Calibri"/>
              </a:defRPr>
            </a:pPr>
            <a:r>
              <a:t>Where does this client stand?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08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AI-powered investor intelligence &amp; action-prioritization layer for advisors — detect, explain, prioritize, prepare, 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Demo book: 220 clients · 16 need review · Critical 1 · High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Team: [Name 1]  ·  [Name 2]  ·  [Name 3]  ·  [Name 4]   |   Globathon 2026 FinTech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The problem: data exists — attention doesn't scale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155680" cy="868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•  Holdings, goals, past advice, and notes live in different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1155680" cy="868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•  Advisors can know their top ~20 clients deeply — the other ~200 rarely get proactive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11155680" cy="868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4290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•  Hypothesis: the gap is not another chart — it is continuous, explainable prioritization of whom to contact next.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11155680" cy="8686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•  Cerulli (2026): 64% of surveyed RIAs say AI reduced admin work; firms use AI to expand capacity, not replace advice.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Sources: Globathon problem framing; Cerulli Associates press release, 9 Sep 2026 (AI capacity survey, n=68 RIAs). Client-book 20/200 = illustrative.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Why CRM + portfolio tools still leave a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566160" cy="38404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Store &amp; engage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CRM (e.g. Salesforce FSC)</a:t>
            </a:r>
            <a:br/>
            <a:r>
              <a:t>Household 360, tasks, AI meeting prep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88720"/>
            <a:ext cx="3566160" cy="38404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Analyze &amp; construct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21031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Morningstar / Aladdin Wealth</a:t>
            </a:r>
            <a:br/>
            <a:r>
              <a:t>Research, risk, proposals, rebalancing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188720"/>
            <a:ext cx="3566160" cy="38404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4173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Still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10312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Cross-context attention loop</a:t>
            </a:r>
            <a:br/>
            <a:r>
              <a:t>Goal path vs actual + explainable why-now + long-tail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Sources: salesforce.com/financial-services/wealth-management-software; morningstar Advisor Workstation; blackrock.com/aladdin (Aladdin Wealth). Fair comparison — not capability denial.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Advisor Pulse — the attention layer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73736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188720"/>
            <a:ext cx="173736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77440" y="1280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Explain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173736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280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Prioritize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173736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280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Prepare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1737360" cy="64008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280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0" y="1188720"/>
            <a:ext cx="173736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280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B1220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→  Unified client context: holdings + goals + advice + notes (+ optional cash-flow signals)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8346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→  Expectation-vs-actual with evidence-linked driver analysis (qualified, not fabricated)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74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→  Transparent multi-factor priority (Critical / High / Monitor / On Track) — configurable thresholds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→  Meeting briefs &amp; review suggestions — human approval required; no autonomous trading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How the intelligence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029200" cy="10972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8"/>
                </a:solidFill>
                <a:latin typeface="Calibri"/>
              </a:defRPr>
            </a:pPr>
            <a:r>
              <a:t>1. Txn + portfolio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651760"/>
            <a:ext cx="5029200" cy="10972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8"/>
                </a:solidFill>
                <a:latin typeface="Calibri"/>
              </a:defRPr>
            </a:pPr>
            <a:r>
              <a:t>2. Validate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5029200" cy="10972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8"/>
                </a:solidFill>
                <a:latin typeface="Calibri"/>
              </a:defRPr>
            </a:pPr>
            <a:r>
              <a:t>3. Goal &amp; portfolio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5029200" cy="10972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00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8"/>
                </a:solidFill>
                <a:latin typeface="Calibri"/>
              </a:defRPr>
            </a:pPr>
            <a:r>
              <a:t>4. Attention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51760"/>
            <a:ext cx="5029200" cy="10972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971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8"/>
                </a:solidFill>
                <a:latin typeface="Calibri"/>
              </a:defRPr>
            </a:pPr>
            <a:r>
              <a:t>5. Evidence-linked summary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023360"/>
            <a:ext cx="5029200" cy="109728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343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EF8"/>
                </a:solidFill>
                <a:latin typeface="Calibri"/>
              </a:defRPr>
            </a:pPr>
            <a:r>
              <a:t>6. Advisor approves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Security boundary: no sensitive investor data to external LLMs without approved DPA. Demo uses deterministic templates. SEBI IA Reg. 15(14): IA remains responsible for AI tools.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Where the value lies: 20 vs 200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41148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Known clients (illustrative top 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Meeting prep briefs</a:t>
            </a:r>
            <a:br/>
            <a:r>
              <a:t>Changes since last review</a:t>
            </a:r>
            <a:br/>
            <a:r>
              <a:t>Goal progress + evidence</a:t>
            </a:r>
            <a:br/>
            <a:r>
              <a:t>Conversation-ready context</a:t>
            </a:r>
            <a:br/>
            <a:br/>
            <a:r>
              <a:t>Supports depth — does not replace relationship.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41148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D4BF"/>
                </a:solidFill>
                <a:latin typeface="Calibri"/>
              </a:defRPr>
            </a:pPr>
            <a:r>
              <a:t>Long tail (illustrative ~200)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Proactive detection of material deviations</a:t>
            </a:r>
            <a:br/>
            <a:r>
              <a:t>Demo: 200 long-tail · 16 total need review</a:t>
            </a:r>
            <a:br/>
            <a:r>
              <a:t>Configurable thresholds reduce alert fatigue</a:t>
            </a:r>
            <a:br/>
            <a:r>
              <a:t>Data-quality ≠ financial distress</a:t>
            </a:r>
            <a:br/>
            <a:br/>
            <a:r>
              <a:t>Greatest incremental value: scaling quality attention.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Illustrative book sizes. Industry context: Institutional Investor summarizing Cerulli — senior advisors ~160 clients; 29% manage &gt;200. Not a measured productivity claim for Advisor Pulse.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EF8"/>
                </a:solidFill>
                <a:latin typeface="Calibri"/>
              </a:defRPr>
            </a:pPr>
            <a:r>
              <a:t>Investor Dynamic Summary — Priya Sharma (DEMO)</a:t>
            </a:r>
          </a:p>
        </p:txBody>
      </p:sp>
      <p:pic>
        <p:nvPicPr>
          <p:cNvPr id="3" name="Picture 2" descr="investor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7132320" cy="394357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772400" y="822960"/>
            <a:ext cx="4023360" cy="50292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005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Computed demo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657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Priority: Critical (score 78.0)</a:t>
            </a:r>
            <a:br/>
            <a:r>
              <a:t>Portfolio ≈ ₹72.0L</a:t>
            </a:r>
            <a:br/>
            <a:r>
              <a:t>Vs expected path: -20.9%</a:t>
            </a:r>
            <a:br/>
            <a:r>
              <a:t>Active return: -12.06 pp</a:t>
            </a:r>
            <a:br/>
            <a:r>
              <a:t>Goal: Retirement corpus</a:t>
            </a:r>
            <a:br/>
            <a:r>
              <a:t>Confidence: medium</a:t>
            </a:r>
            <a:br/>
            <a:br/>
            <a:r>
              <a:t>SYNTHETIC DEMO — not a real client.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Live demo walkthrough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11155680" cy="73152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1. DETECT — Priya behind expected path by -20.9%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11155680" cy="73152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2. EXPLAIN — Mid-cap overweight + active TWR lag vs benchmark (qualified drivers)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60320"/>
            <a:ext cx="11155680" cy="73152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3. PRIORITIZE — Surfaces as Critical in book of 220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79"/>
            <a:ext cx="11155680" cy="73152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4. PREPARE — Meeting brief with open questions &amp; overdue follow-ups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11155680" cy="73152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5. ACT — Advisor review suggestions only (rebalance discussion, close follow-up)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029200"/>
            <a:ext cx="11155680" cy="73152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2120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8"/>
                </a:solidFill>
                <a:latin typeface="Calibri"/>
              </a:defRPr>
            </a:pPr>
            <a:r>
              <a:t>6. CONTRAST — Arjun Mehta: AUM dip from planned withdrawal → NOT escalated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Privacy, trust &amp; human oversight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 RBAC, encryption in transit/at rest, audit trails — production architecture (prototype is local 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 Data minimization &amp; purpose limitation (DPDP Act 2023 design considerations)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 SEBI IA Reg. 15(14): IA solely responsible for AI tools &amp; client data integrity; disclose AI use (18(9))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39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 No investor PII to external models without approved processing arrangement — demo uses templates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 Meeting transcripts: mocked local path in prototype; production = on-prem ASR + consent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 Prompt-injection resistant summaries: numbers only from structured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548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 Honest limit: NOT claimed compliant, certified, or regulator-approved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Sources: SEBI IA Regulations PDF; SEBI IA Master Circular PDF; MeitY DPDP Act 2023 PDF. Design considerations ≠ compliance certification.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Competitive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8"/>
                </a:solidFill>
                <a:latin typeface="Calibri"/>
              </a:defRPr>
            </a:pPr>
            <a:r>
              <a:t>Capability                    Salesforce FSC/Agentforce   Morningstar AWS   Aladdin Wealth   Advisor Pulse</a:t>
            </a:r>
            <a:br/>
            <a:r>
              <a:t>CRM / household 360           Y                           P                 P                Integrates</a:t>
            </a:r>
            <a:br/>
            <a:r>
              <a:t>Deep risk / stress            NV                          P                 Y                Not claimed</a:t>
            </a:r>
            <a:br/>
            <a:r>
              <a:t>Goal path vs expected         P                           P                 P                Core</a:t>
            </a:r>
            <a:br/>
            <a:r>
              <a:t>Explainable gap drivers       NV                          P                 P                Core (qualified)</a:t>
            </a:r>
            <a:br/>
            <a:r>
              <a:t>Transparent priority factors  NV                          NV                P (alerts)       Core</a:t>
            </a:r>
            <a:br/>
            <a:r>
              <a:t>Evidence-bound NL briefs      Y                           NV                NV               Y (structured→text)</a:t>
            </a:r>
            <a:br/>
            <a:r>
              <a:t>Long-tail attention workflow  P                           NV                P                Primary job-to-be-done</a:t>
            </a:r>
            <a:br/>
            <a:br/>
            <a:r>
              <a:t>Differentiation: combination + explainable attention loop — not 'another dashboard'.</a:t>
            </a:r>
            <a:br/>
            <a:r>
              <a:t>Y=evidenced · P=partial · NV=not verified in sources examined. See research/competitor_matrix.md.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8"/>
                </a:solidFill>
                <a:latin typeface="Calibri"/>
              </a:defRPr>
            </a:pPr>
            <a:r>
              <a:t>Implementation &amp; validation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657600" cy="45720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Built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React + FastAPI prototype</a:t>
            </a:r>
            <a:br/>
            <a:r>
              <a:t>• Synthetic DEMO book (220)</a:t>
            </a:r>
            <a:br/>
            <a:r>
              <a:t>• TWR + Modified Dietz</a:t>
            </a:r>
            <a:br/>
            <a:r>
              <a:t>• Transparent prioritization</a:t>
            </a:r>
            <a:br/>
            <a:r>
              <a:t>• Meeting briefs + notes</a:t>
            </a:r>
            <a:br/>
            <a:r>
              <a:t>• Deterministic summaries</a:t>
            </a:r>
            <a:br/>
            <a:r>
              <a:t>• Tests + research pack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005840"/>
            <a:ext cx="3657600" cy="45720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Needs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Live custodian / PMS feeds</a:t>
            </a:r>
            <a:br/>
            <a:r>
              <a:t>• CRM task push</a:t>
            </a:r>
            <a:br/>
            <a:r>
              <a:t>• On-prem ASR</a:t>
            </a:r>
            <a:br/>
            <a:r>
              <a:t>• Approved LLM under DPA</a:t>
            </a:r>
            <a:br/>
            <a:r>
              <a:t>• Full Brinson attribution</a:t>
            </a:r>
            <a:br/>
            <a:r>
              <a:t>• Production security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05840"/>
            <a:ext cx="3657600" cy="4572000"/>
          </a:xfrm>
          <a:prstGeom prst="roundRect">
            <a:avLst/>
          </a:prstGeom>
          <a:solidFill>
            <a:srgbClr val="16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188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DD4BF"/>
                </a:solidFill>
                <a:latin typeface="Calibri"/>
              </a:defRPr>
            </a:pPr>
            <a:r>
              <a:t>Pilot metrics (plan)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173736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8"/>
                </a:solidFill>
                <a:latin typeface="Calibri"/>
              </a:defRPr>
            </a:pPr>
            <a:r>
              <a:t>• Review prep time</a:t>
            </a:r>
            <a:br/>
            <a:r>
              <a:t>• % alerts advisor-validated</a:t>
            </a:r>
            <a:br/>
            <a:r>
              <a:t>• Missed events (retro)</a:t>
            </a:r>
            <a:br/>
            <a:r>
              <a:t>• False-positive rate</a:t>
            </a:r>
            <a:br/>
            <a:r>
              <a:t>• % summaries with cited facts</a:t>
            </a:r>
            <a:br/>
            <a:br/>
            <a:r>
              <a:t>No invented pilot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Round 2 Globathon rule: problem-specific logic must be built during the 12-hour finale; this repo is Round 1 ideation + reference architecture.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DD4BF"/>
                </a:solidFill>
                <a:latin typeface="Calibri"/>
              </a:defRPr>
            </a:pPr>
            <a:r>
              <a:t>Where does this client stand?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EEF8"/>
                </a:solidFill>
                <a:latin typeface="Calibri"/>
              </a:defRPr>
            </a:pPr>
            <a:r>
              <a:t>Advisor Pulse helps advisors spend less time searching for signals —</a:t>
            </a:r>
            <a:br/>
            <a:r>
              <a:t>and more time acting on the right ones.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Detect → Explain → Prioritize → Prepare → Act → Learn</a:t>
            </a:r>
            <a:br/>
            <a:r>
              <a:t>Team placeholders · Globathon 2026 · React web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EEF8"/>
                </a:solidFill>
                <a:latin typeface="Calibri"/>
              </a:defRPr>
            </a:pPr>
            <a:r>
              <a:t>Appendix — Finale pitch cut (2–4 slides)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8EEF8"/>
                </a:solidFill>
                <a:latin typeface="Calibri"/>
              </a:defRPr>
            </a:pPr>
            <a:r>
              <a:t>Official Round 2 pitch requires a short PPT (2–4 slides). Suggested cut:</a:t>
            </a:r>
            <a:br/>
            <a:br/>
            <a:r>
              <a:t>1) Title + promise (Slide 1)</a:t>
            </a:r>
            <a:br/>
            <a:r>
              <a:t>2) Solution workflow + differentiation (Slide 4)</a:t>
            </a:r>
            <a:br/>
            <a:r>
              <a:t>3) Demo metrics / Priya story (Slides 7–8 compressed)</a:t>
            </a:r>
            <a:br/>
            <a:r>
              <a:t>4) Trust + ask (Slide 9 + close)</a:t>
            </a:r>
            <a:br/>
            <a:br/>
            <a:r>
              <a:t>Also required at finale: working prototype, source code, run instructions, live demo + Q&amp;A.</a:t>
            </a:r>
            <a:br/>
            <a:r>
              <a:t>Reuse rule: problem-specific features must be developed during the coding 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Advisor Pulse · Globathon 2026 · DEMO data · Citations on-slide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